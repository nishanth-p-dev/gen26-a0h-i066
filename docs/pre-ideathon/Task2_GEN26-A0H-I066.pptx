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2410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5" name="Cover Fields"/>
          <p:cNvSpPr txBox="1"/>
          <p:nvPr/>
        </p:nvSpPr>
        <p:spPr>
          <a:xfrm>
            <a:off x="548639" y="3344008"/>
            <a:ext cx="9024569" cy="3261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u="sng" dirty="0">
                <a:solidFill>
                  <a:schemeClr val="bg1"/>
                </a:solidFill>
              </a:rPr>
              <a:t>Team Name </a:t>
            </a:r>
            <a:r>
              <a:rPr lang="en-US" dirty="0">
                <a:solidFill>
                  <a:schemeClr val="bg1"/>
                </a:solidFill>
              </a:rPr>
              <a:t>–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Idealogists</a:t>
            </a:r>
            <a:endParaRPr lang="en-US" dirty="0">
              <a:latin typeface="Consolas" panose="020B0609020204030204" pitchFamily="49" charset="0"/>
            </a:endParaRP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u="sng" dirty="0">
                <a:solidFill>
                  <a:schemeClr val="bg1"/>
                </a:solidFill>
              </a:rPr>
              <a:t>Team Members </a:t>
            </a:r>
            <a:r>
              <a:rPr lang="en-US" dirty="0">
                <a:solidFill>
                  <a:schemeClr val="bg1"/>
                </a:solidFill>
              </a:rPr>
              <a:t>– </a:t>
            </a:r>
          </a:p>
          <a:p>
            <a:pPr marL="800100" lvl="1" indent="-342900">
              <a:spcAft>
                <a:spcPts val="1400"/>
              </a:spcAft>
              <a:buClr>
                <a:schemeClr val="accent3"/>
              </a:buClr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Gopammagari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Manu Deep Reddy – CB.SC.U4CSE26618</a:t>
            </a:r>
          </a:p>
          <a:p>
            <a:pPr marL="800100" lvl="1" indent="-342900">
              <a:spcAft>
                <a:spcPts val="1400"/>
              </a:spcAft>
              <a:buClr>
                <a:schemeClr val="accent3"/>
              </a:buClr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P Nishanth – CB.SC.U4CSE26146</a:t>
            </a:r>
          </a:p>
          <a:p>
            <a:pPr marL="800100" lvl="1" indent="-342900">
              <a:spcAft>
                <a:spcPts val="1400"/>
              </a:spcAft>
              <a:buClr>
                <a:schemeClr val="accent3"/>
              </a:buClr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P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Dhivyes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– CB.SC.U4CSE26145</a:t>
            </a:r>
          </a:p>
          <a:p>
            <a:pPr marL="800100" lvl="1" indent="-342900">
              <a:spcAft>
                <a:spcPts val="1400"/>
              </a:spcAft>
              <a:buClr>
                <a:schemeClr val="accent3"/>
              </a:buClr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V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Ragghul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– CB.SC.U4CSE26163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u="sng" dirty="0">
                <a:solidFill>
                  <a:schemeClr val="bg1"/>
                </a:solidFill>
              </a:rPr>
              <a:t>Selected Domain </a:t>
            </a:r>
            <a:r>
              <a:rPr lang="en-US" dirty="0">
                <a:solidFill>
                  <a:schemeClr val="bg1"/>
                </a:solidFill>
              </a:rPr>
              <a:t>–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Domain 4 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[Climate Action, Water and Environmental Resilience]</a:t>
            </a:r>
            <a:endParaRPr lang="en-US" dirty="0">
              <a:latin typeface="Consolas" panose="020B0609020204030204" pitchFamily="49" charset="0"/>
            </a:endParaRP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u="sng" dirty="0">
                <a:solidFill>
                  <a:schemeClr val="bg1"/>
                </a:solidFill>
              </a:rPr>
              <a:t>Problem Statement </a:t>
            </a:r>
            <a:r>
              <a:rPr lang="en-US" dirty="0">
                <a:solidFill>
                  <a:schemeClr val="bg1"/>
                </a:solidFill>
              </a:rPr>
              <a:t>– </a:t>
            </a:r>
            <a:r>
              <a:rPr lang="en-IN" dirty="0">
                <a:solidFill>
                  <a:schemeClr val="bg1"/>
                </a:solidFill>
                <a:latin typeface="Consolas" panose="020B0609020204030204" pitchFamily="49" charset="0"/>
              </a:rPr>
              <a:t>Fisherfolk Border Alert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IDEALOGISTS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234440" y="1417320"/>
            <a:ext cx="9537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Fisherfolk Border Alert</a:t>
            </a:r>
            <a:endParaRPr lang="en-US" sz="22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02050"/>
            <a:ext cx="104241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u="sng" dirty="0">
                <a:solidFill>
                  <a:schemeClr val="tx1"/>
                </a:solidFill>
              </a:rPr>
              <a:t>What exactly needs to be solved?</a:t>
            </a:r>
          </a:p>
          <a:p>
            <a:pPr marL="742950" lvl="1" indent="-285750">
              <a:spcAft>
                <a:spcPts val="10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400" dirty="0"/>
              <a:t>Fishermen from Tamil Nadu (especially from coastal areas such as Rameshwaram, Nagapattinam, etc…) unintentionally cross the India – Sri-Lanka marine border during fishing</a:t>
            </a:r>
          </a:p>
          <a:p>
            <a:pPr marL="742950" lvl="1" indent="-285750">
              <a:spcAft>
                <a:spcPts val="10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400" dirty="0"/>
              <a:t>This is because the boundary is not physical, but just an invisible line in open water</a:t>
            </a:r>
          </a:p>
          <a:p>
            <a:pPr marL="742950" lvl="1" indent="-285750">
              <a:spcAft>
                <a:spcPts val="10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400" dirty="0"/>
              <a:t>Also, most fishing boats are low-cost, so they do not have inbuilt GPS to track the boundaries</a:t>
            </a:r>
          </a:p>
          <a:p>
            <a:pPr marL="742950" lvl="1" indent="-285750">
              <a:spcAft>
                <a:spcPts val="10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400" dirty="0"/>
              <a:t>This results in crossing the border, and thereby leading to the Sri-Lankan Navy seizing the Indian fishermen’s boats and arresting them</a:t>
            </a:r>
          </a:p>
          <a:p>
            <a:pPr marL="742950" lvl="1" indent="-285750">
              <a:spcAft>
                <a:spcPts val="10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400" dirty="0"/>
              <a:t>The fishermen are not doing this intentionally, they are unaware of the exact placement of the border, and this is an honest mistake, with no safeguard to prevent it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u="sng" dirty="0">
                <a:solidFill>
                  <a:schemeClr val="tx1"/>
                </a:solidFill>
              </a:rPr>
              <a:t>Why is it important right now?</a:t>
            </a:r>
          </a:p>
          <a:p>
            <a:pPr marL="742950" lvl="1" indent="-285750">
              <a:spcAft>
                <a:spcPts val="10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400" dirty="0"/>
              <a:t>This is not a one-off issue – it happens every fishing season</a:t>
            </a:r>
          </a:p>
          <a:p>
            <a:pPr marL="742950" lvl="1" indent="-285750">
              <a:spcAft>
                <a:spcPts val="10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400" dirty="0"/>
              <a:t>Each arrest / seizure results in a fisherman’s family losing their sole source of income</a:t>
            </a:r>
          </a:p>
          <a:p>
            <a:pPr marL="742950" lvl="1" indent="-285750">
              <a:spcAft>
                <a:spcPts val="10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400" dirty="0"/>
              <a:t>India already has its own satellite navigations system NavIC built by ISRO, which can potentially solve this problem, but it is barely being used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22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240280"/>
            <a:ext cx="10424160" cy="3787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Primary users / target group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Fishermen from Tamil Nadu’s coastal districts, especially those who fish close to the India–Sri Lanka marine boundary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Small-scale and traditional fishermen using mechanized boats or country boats, since they’re the ones most likely to drift near the boundary without realizing it</a:t>
            </a:r>
          </a:p>
          <a:p>
            <a:pPr lvl="1"/>
            <a:endParaRPr lang="en-IN" sz="14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Secondary stakeholders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Fishermen’s families, who also suffer due to the economic and emotional loss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The Tamil Nadu and Indian government who currently handle these incidents, who would benefit from fewer cases of these types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Fishing boat manufacturers or equipment sellers, who could eventually integrate this as a standard safety feature</a:t>
            </a:r>
          </a:p>
          <a:p>
            <a:pPr lvl="1"/>
            <a:endParaRPr lang="en-IN" sz="1400" dirty="0"/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Who benefits if the problem is solved?</a:t>
            </a:r>
            <a:endParaRPr lang="en-US" sz="1800" dirty="0">
              <a:solidFill>
                <a:schemeClr val="tx1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Fishermen could avoid arrest, detention, and loss of their boats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Families maintain stable income instead of losing weeks or months of earnings per incident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India–Sri Lanka diplomatic relations ease slightly, since this a common recurring friction point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  <p:sp>
        <p:nvSpPr>
          <p:cNvPr id="12" name="Team Name">
            <a:extLst>
              <a:ext uri="{FF2B5EF4-FFF2-40B4-BE49-F238E27FC236}">
                <a16:creationId xmlns:a16="http://schemas.microsoft.com/office/drawing/2014/main" id="{11B4B22E-4BFA-6D86-2159-18A25FCFA049}"/>
              </a:ext>
            </a:extLst>
          </p:cNvPr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IDEALOGISTS</a:t>
            </a:r>
            <a:endParaRPr 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5232D0-F8FE-6A58-DAB2-ADACEBCE8968}"/>
              </a:ext>
            </a:extLst>
          </p:cNvPr>
          <p:cNvSpPr txBox="1"/>
          <p:nvPr/>
        </p:nvSpPr>
        <p:spPr>
          <a:xfrm>
            <a:off x="12838922" y="21273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7" name="Lead Icon Hex"/>
          <p:cNvSpPr/>
          <p:nvPr/>
        </p:nvSpPr>
        <p:spPr>
          <a:xfrm>
            <a:off x="548640" y="128016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4051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234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22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1675181"/>
            <a:ext cx="8601891" cy="4557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50000"/>
              </a:lnSpc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Existing scenario and background</a:t>
            </a:r>
            <a:endParaRPr lang="en-US" sz="1800" dirty="0">
              <a:solidFill>
                <a:schemeClr val="tx1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The India–Sri Lanka maritime boundary (IMBL) was fixed in 1974-76, but Palk Bay fishing grounds overlap across it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The boundary is invisible at sea, so fishermen can’t tell exactly where it is, especially at night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Boats that drift across, even unintentionally, get intercepted by the Sri Lankan Navy</a:t>
            </a:r>
          </a:p>
          <a:p>
            <a:pPr lvl="1"/>
            <a:endParaRPr lang="en-IN" sz="1400" dirty="0"/>
          </a:p>
          <a:p>
            <a:pPr marL="279400" indent="-279400">
              <a:lnSpc>
                <a:spcPct val="150000"/>
              </a:lnSpc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Relevant data or facts</a:t>
            </a:r>
            <a:endParaRPr lang="en-US" u="sng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Hundreds of Tamil Nadu fishermen are arrested yearly, and seized boats are often never returned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Repeatedly raised in India–Sri Lanka diplomatic talks, yet keeps recurring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Most recently, on October 3, 2026, TN CM Vijay wrote to EAM Jaishankar seeking release of 20 fishermen held in Sri Lanka</a:t>
            </a:r>
          </a:p>
          <a:p>
            <a:pPr lvl="1"/>
            <a:endParaRPr lang="en-IN" sz="1400" dirty="0"/>
          </a:p>
          <a:p>
            <a:pPr marL="279400" indent="-279400">
              <a:lnSpc>
                <a:spcPct val="150000"/>
              </a:lnSpc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Current workflow, step by step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Fisherfolk go out to sea with little or no GPS guidance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Boat drifts near/across the IMBL while following fish, with no alert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Sri Lankan Navy intercepts, detains the fisherman, and seizes the boat pending negotiations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  <p:sp>
        <p:nvSpPr>
          <p:cNvPr id="12" name="Team Name">
            <a:extLst>
              <a:ext uri="{FF2B5EF4-FFF2-40B4-BE49-F238E27FC236}">
                <a16:creationId xmlns:a16="http://schemas.microsoft.com/office/drawing/2014/main" id="{35D70B86-DE10-BBCA-E0E7-066F26904ACF}"/>
              </a:ext>
            </a:extLst>
          </p:cNvPr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IDEALOGISTS</a:t>
            </a:r>
            <a:endParaRPr lang="en-US" sz="900" dirty="0"/>
          </a:p>
        </p:txBody>
      </p:sp>
      <p:pic>
        <p:nvPicPr>
          <p:cNvPr id="13" name="Picture 12" descr="What is Palk Bay Scheme? - Civilsdaily">
            <a:extLst>
              <a:ext uri="{FF2B5EF4-FFF2-40B4-BE49-F238E27FC236}">
                <a16:creationId xmlns:a16="http://schemas.microsoft.com/office/drawing/2014/main" id="{3C972C78-7D4E-D943-5018-45EC05A69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0571" y="2752627"/>
            <a:ext cx="2433852" cy="2276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22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94560"/>
            <a:ext cx="10424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Main difficulties and bottlenecks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No visible marker for the marine border, so fishermen can’t tell when they’re near it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Most boats have no GPS, so there is no way of knowing if the border is close or not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Detection and interception only happen after the crossing, never before it; there is no prevention, only a challenging cure</a:t>
            </a:r>
          </a:p>
          <a:p>
            <a:pPr lvl="1"/>
            <a:endParaRPr lang="en-US" sz="14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Root causes behind them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The boundary was drawn as a legal line, not a usable navigational one for fishermen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Affordable, boundary-specific alert technology was never built or distributed to fishing communities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Existing responses treat each arrest as a one-off incident rather than fixing the root gap, so there is no active preventive mechanism in place</a:t>
            </a:r>
          </a:p>
          <a:p>
            <a:pPr lvl="1"/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Consequences of leaving them unsolved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Fishermen keep losing boats and income every fishing season, causing great distress to them and their families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India–Sri Lanka relations stay strained by a recurring but preventable issue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Coastal families remain financially and emotionally vulnerable with no long-term fix available as of now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  <p:sp>
        <p:nvSpPr>
          <p:cNvPr id="12" name="Team Name">
            <a:extLst>
              <a:ext uri="{FF2B5EF4-FFF2-40B4-BE49-F238E27FC236}">
                <a16:creationId xmlns:a16="http://schemas.microsoft.com/office/drawing/2014/main" id="{841A08A5-1723-3E8D-7B1B-DD6C89DA4C15}"/>
              </a:ext>
            </a:extLst>
          </p:cNvPr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IDEALOGISTS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22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52734"/>
            <a:ext cx="10424160" cy="416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Existing methods, systems or alternatives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Diplomatic talks via the India–Sri Lanka Joint Working Group on Fisheries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Naval patrolling and coast guard presence by both countries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Basic GPS devices on some boats which are not boundary specific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Fishermen association awareness/warnings based on experience</a:t>
            </a:r>
          </a:p>
          <a:p>
            <a:pPr lvl="1"/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Limitations of each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Diplomatic talks resolve individual arrests but don’t prevent future ones, so they only serve as stop-gap measures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Patrolling only catches crossings after they happen and not before, so they don’t come under preventive measures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Generic GPS shows location but doesn’t flag the marine border specifically or provide real – time alerts</a:t>
            </a:r>
          </a:p>
          <a:p>
            <a:pPr lvl="1"/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The gap they leave open (Key Challenges)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No real-time, boundary-specific alert system exists for the fishermen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Every current approach is reactive (after the crossing) rather than preventive (before the crossing)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Low-cost, accessible technology for small-scale fishermen remains completely missing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  <p:sp>
        <p:nvSpPr>
          <p:cNvPr id="12" name="Team Name">
            <a:extLst>
              <a:ext uri="{FF2B5EF4-FFF2-40B4-BE49-F238E27FC236}">
                <a16:creationId xmlns:a16="http://schemas.microsoft.com/office/drawing/2014/main" id="{3A0072CE-E86F-0031-5CA3-9FD492B78400}"/>
              </a:ext>
            </a:extLst>
          </p:cNvPr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IDEALOGISTS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Resources required to solve the problem</a:t>
            </a:r>
            <a:endParaRPr lang="en-US" sz="22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39"/>
            <a:ext cx="10424160" cy="3850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50000"/>
              </a:lnSpc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Hardware Requirements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A GPS receiver module (battery or solar powered, depending on efficiency)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Alert mechanism — buzzer / LED light / small display for visual and audio warning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Weatherproof casing, since it will be used in open sea conditions</a:t>
            </a:r>
          </a:p>
          <a:p>
            <a:pPr lvl="1"/>
            <a:endParaRPr lang="en-US" sz="1800" dirty="0"/>
          </a:p>
          <a:p>
            <a:pPr marL="279400" indent="-279400">
              <a:lnSpc>
                <a:spcPct val="150000"/>
              </a:lnSpc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Software Requirements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A geofencing algorithm that compares the boat’s live location against the IMBL (marine border) coordinates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Alert-trigger system (distance-based thresholds — Example: warning at 2 km, alarm at 500m from boundary)</a:t>
            </a:r>
          </a:p>
          <a:p>
            <a:pPr lvl="1"/>
            <a:endParaRPr lang="en-US" sz="1800" dirty="0"/>
          </a:p>
          <a:p>
            <a:pPr marL="279400" indent="-279400">
              <a:lnSpc>
                <a:spcPct val="150000"/>
              </a:lnSpc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Other resources (Including Human Resources)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Access to accurate marine border coordinate data (from government / maritime sources)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Inputs from fishermen communities to design something usable for real sea conditions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  <p:sp>
        <p:nvSpPr>
          <p:cNvPr id="12" name="Team Name">
            <a:extLst>
              <a:ext uri="{FF2B5EF4-FFF2-40B4-BE49-F238E27FC236}">
                <a16:creationId xmlns:a16="http://schemas.microsoft.com/office/drawing/2014/main" id="{6ADDDBF4-E826-46FF-4BE9-11BDBB9CE296}"/>
              </a:ext>
            </a:extLst>
          </p:cNvPr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IDEALOGISTS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What Is Your Expected Outcome?</a:t>
            </a:r>
            <a:endParaRPr lang="en-US" sz="2200" dirty="0"/>
          </a:p>
        </p:txBody>
      </p:sp>
      <p:sp>
        <p:nvSpPr>
          <p:cNvPr id="10" name="Prompts"/>
          <p:cNvSpPr txBox="1"/>
          <p:nvPr/>
        </p:nvSpPr>
        <p:spPr>
          <a:xfrm>
            <a:off x="736092" y="2148840"/>
            <a:ext cx="10556748" cy="373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What your team intends to do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Build a low-cost boundary-alert device that fishermen can mount on their boats to warn them in real time as they approach the India–Sri Lanka maritime boundary (IMBL)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 Use India’s own NavIC satellite navigation system 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What you want to improve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Replace the current reactive system with a preventive one (warn before the crossing happens)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Make boundary-awareness accessible to small-scale fishermen who currently have no GPS or boundary-specific alerts at 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What successful improvement should you achieve</a:t>
            </a:r>
            <a:endParaRPr lang="en-US" sz="1800" dirty="0">
              <a:solidFill>
                <a:schemeClr val="tx1"/>
              </a:solidFill>
            </a:endParaRPr>
          </a:p>
          <a:p>
            <a:pPr marL="742950" lvl="1" indent="-285750">
              <a:spcAft>
                <a:spcPts val="10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IN" sz="1400" dirty="0"/>
              <a:t>A working proof-of-concept that demonstrates real-world value beyond defence and logistic use cases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  <p:sp>
        <p:nvSpPr>
          <p:cNvPr id="12" name="Team Name">
            <a:extLst>
              <a:ext uri="{FF2B5EF4-FFF2-40B4-BE49-F238E27FC236}">
                <a16:creationId xmlns:a16="http://schemas.microsoft.com/office/drawing/2014/main" id="{EF14616C-8600-A8AA-8A32-B0A98661F38B}"/>
              </a:ext>
            </a:extLst>
          </p:cNvPr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IDEALOGISTS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1212</Words>
  <Application>Microsoft Office PowerPoint</Application>
  <PresentationFormat>Widescreen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Courier New</vt:lpstr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P Nishanth - [CB.SC.U4CSE26146]</cp:lastModifiedBy>
  <cp:revision>9</cp:revision>
  <dcterms:created xsi:type="dcterms:W3CDTF">2026-10-07T15:27:40Z</dcterms:created>
  <dcterms:modified xsi:type="dcterms:W3CDTF">2026-10-09T18:09:33Z</dcterms:modified>
</cp:coreProperties>
</file>